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Bias Detection &amp; Responsible AI</a:t>
            </a:r>
            <a:br/>
            <a:r>
              <a:t>in AI Hiring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96C7"/>
                </a:solidFill>
              </a:defRPr>
            </a:pPr>
            <a:r>
              <a:t>Academic Project | IBM HR Analytics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1. Introduction to Responsible AI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2. Problem Statement &amp; Dataset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3. System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4. Data Preprocessing &amp; Feature Engineering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5. AI Hiring Model – Training &amp; Evaluation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6. Fairness &amp; Bias Detection (Unit 2)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7. Bias Visualization &amp; Analysis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8. Interpretability &amp; Explainability (Unit 3)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9. SHAP Analysis &amp; Feature Importance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10. Individual Candidate Explanations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11. Ethics &amp; Accountability Audit (Unit 4)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12. Privacy Preservation (Unit 5)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13. Privacy-Accuracy-Fairness Tradeoffs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14. Correlation vs Causation Analysis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15. Nudge Theory &amp; Counterfactual Explanations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16. Dashboard Demo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17. Key Findings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Introduction to Responsible AI (Unit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• Responsible AI ensures AI systems are fair, transparent,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accountable, and privacy-preserving.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• Key Principles: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Fairness: No discrimination based on protected attributes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Transparency: Explainable decision-making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Accountability: Clear ownership of AI outcomes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Privacy: Protection of personal data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Beneficence: AI should benefit all stakeholders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• Why it matters in Hiring: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AI hiring tools can perpetuate historical biases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Legal compliance (EU AI Act, EEOC 4/5ths rule)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→ Ethical obligation to candidates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Problem: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AI-powered hiring systems can introduce or amplify biases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against protected groups (gender, age, ethnicity).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Objective: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Build a Responsible AI pipeline that: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✓ Detects bias in hiring predictions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✓ Explains model decisions transparently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✓ Audits ethical risks systematically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✓ Preserves candidate privacy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Dataset: IBM HR Employee Attrition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1,470 employees × 35 features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Target: Attrition (Yes/No → Hired/Not Hired)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Sensitive attributes: Gender, 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Pipeline Flow: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Dataset (IBM HR)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    ↓          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Data Preprocessing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    ↓          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Model Training (LR, RF, DT)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    ↓          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┌──────┬──────┬──────┐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↓      ↓      ↓      ↓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Fairness  Explain  Privacy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Analysis  ability  Module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↓      ↓      ↓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└──────┼──────┘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      ↓               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Ethics Audit → Dashboard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Tech Stack: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Python, Scikit-learn, SHAP, Fairlearn,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diffprivlib, Streamlit, python-pptx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 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Steps performed: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1. Data Cleaning: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Dropped constant columns (EmployeeCount, Over18, etc.)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Mapped target: Attrition Yes→1, No→0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Handled missing values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2. Feature Engineering: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Created AgeGroup bins (18-30, 31-40, 41-50, 51-60)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Created IncomeGroup quartiles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Binary gender encoding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3. Encoding &amp; Scaling: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Label-encoded all categorical features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StandardScaler on numeric features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4. Sensitive Attributes Identified: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Gender (Male/Female)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 • Age Group (Young/Senior)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 Hiring Model – Training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Three models trained for hiring prediction: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Three models trained for hiring prediction: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1. Logistic Regression (interpretable, baseline)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2. Random Forest (ensemble, high accuracy)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3. Decision Tree (intrinsically interpretable)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Evaluation Metrics: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Logistic Regression: Acc=0.8741, P=0.6923, R=0.383, F1=0.4932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Random Forest: Acc=0.8367, P=0.4545, R=0.1064, F1=0.1724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Decision Tree: Acc=0.8197, P=0.4167, R=0.3191, F1=0.3614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2409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Model Evaluation – Confusion Matrices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950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Confusion matrices showing True/False Positive/Negative rates for each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Fairness &amp; Bias Detection (Unit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Fairness Metrics Implemented: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Fairness Metrics Implemented: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1. Demographic Parity: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P(ŷ=1|G=0) should equal P(ŷ=1|G=1)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2. Equal Opportunity: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TPR should be equal across groups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3. Disparate Impact (80% Rule):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Ratio = P(ŷ=1|unprivileged) / P(ŷ=1|privileged)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Ratio &lt; 0.8 → adverse impact detected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4. Statistical Parity Difference: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SPD = P(ŷ=1|unprivileged) - P(ŷ=1|privileged)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Ideal value = 0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Libraries: Fairlearn, AIF360, custom implementations</a:t>
            </a:r>
          </a:p>
        </p:txBody>
      </p:sp>
      <p:pic>
        <p:nvPicPr>
          <p:cNvPr id="4" name="Picture 3" descr="fairn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18854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Bias Heatmap – All Models &amp; Attributes</a:t>
            </a:r>
          </a:p>
        </p:txBody>
      </p:sp>
      <p:pic>
        <p:nvPicPr>
          <p:cNvPr id="3" name="Picture 2" descr="bia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199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Heatmap showing fairness metrics across models for Gender and Age groups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Group Fairness – Gender Analysis</a:t>
            </a:r>
          </a:p>
        </p:txBody>
      </p:sp>
      <p:pic>
        <p:nvPicPr>
          <p:cNvPr id="3" name="Picture 2" descr="group_fairness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334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Positive prediction rates by gender for each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Interpretability &amp; Explainability (Unit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Two categories of explainability: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Two categories of explainability: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A. Intrinsic Methods (built-in interpretability):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Decision Tree – directly readable rules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Logistic Regression – feature coefficients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B. Post-hoc Methods (explain after training):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SHAP (SHapley Additive exPlanations)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  → Game-theoretic feature attribution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Feature Importance (Random Forest)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  → Gini / permutation importance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Partial Dependence Plots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  → Marginal effect of each feature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Why it matters: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GDPR Article 22: right to explanation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Candidates deserve to know WHY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32635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SHAP Summary Plot – Feature Impact</a:t>
            </a:r>
          </a:p>
        </p:txBody>
      </p:sp>
      <p:pic>
        <p:nvPicPr>
          <p:cNvPr id="3" name="Picture 2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9992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Each point = one employee. Color = feature value. X-axis = impact on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Individual Candidate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For each candidate, SHAP explains: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For each candidate, SHAP explains: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→ Which features pushed toward 'Hired'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→ Which features pushed toward 'Not Hired'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Example: Candidate #0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OverTime → strong push toward Not Hired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MonthlyIncome → push toward Hired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TotalWorkingYears → push toward Hired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This provides: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✓ Transparency for the candidate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✓ Actionable feedback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✓ Audit trail for the organization</a:t>
            </a:r>
          </a:p>
        </p:txBody>
      </p:sp>
      <p:pic>
        <p:nvPicPr>
          <p:cNvPr id="4" name="Picture 3" descr="individual_expla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25696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Decision Tree Visualization (Intrinsic)</a:t>
            </a:r>
          </a:p>
        </p:txBody>
      </p:sp>
      <p:pic>
        <p:nvPicPr>
          <p:cNvPr id="3" name="Picture 2" descr="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2315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The Decision Tree model is inherently interpretable – each path is a hiring rule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Ethics &amp; Accountability Audit (Unit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Automated AI Audit Report includes: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Automated AI Audit Report includes: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1. Bias findings across all models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2. Ethical risk severity (HIGH / MEDIUM / LOW)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3. Model transparency assessment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4. Regulatory compliance notes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5. Actionable recommendations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Ethical Principles evaluated: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Fairness    • Transparency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Accountability  • Privacy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Beneficence    • Non-maleficence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Risk Summary: 0 HIGH, 2 MEDIUM, 4 LOW</a:t>
            </a:r>
          </a:p>
        </p:txBody>
      </p:sp>
      <p:pic>
        <p:nvPicPr>
          <p:cNvPr id="4" name="Picture 3" descr="risk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19845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Privacy Preservation (Unit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Technique: Differential Privacy (ε-DP)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Technique: Differential Privacy (ε-DP)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• Adds calibrated noise to model training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• Privacy budget ε controls the tradeoff: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→ Low ε = strong privacy, lower accuracy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→ High ε = weak privacy, higher accuracy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Implementation: IBM diffprivlib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DP Logistic Regression at ε = 0.01 to 50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Baseline: Acc=0.8741, F1=0.4932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Best DP:  ε=50.0, Acc=0.8707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Most Private: ε=0.01, Acc=0.5238</a:t>
            </a:r>
          </a:p>
        </p:txBody>
      </p:sp>
      <p:pic>
        <p:nvPicPr>
          <p:cNvPr id="4" name="Picture 3" descr="privacy_accurac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30134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Accuracy vs Fairness at Different Privacy Levels</a:t>
            </a:r>
          </a:p>
        </p:txBody>
      </p:sp>
      <p:pic>
        <p:nvPicPr>
          <p:cNvPr id="3" name="Picture 2" descr="accuracy_vs_fairness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1447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Each point = a DP model at different ε. Star = baseline without privacy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Responsible AI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Interactive Streamlit Dashboard features: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📊 Dataset Overview: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Employee statistics, distributions, demographics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🤖 Model Performance: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Side-by-side metric comparison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Confusion matrices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⚖️ Fairness &amp; Bias: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Interactive fairness metric tables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Bias heatmaps and comparison charts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🔍 Explainability: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SHAP plots, feature importance, PDP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📋 Ethics Audit: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Full audit report with risk table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🔗 Correlation &amp; Causation: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Correlation matrix, proxy variables, Simpson's Paradox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🎯 Nudge Theory: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Threshold nudging, counterfactual explanations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🔒 Privacy Analysis: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  • DP comparison tables and tradeoff plots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Run: streamlit run dashboard.py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Correlation vs Causation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Correlation ≠ Causation in AI Hiring: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Correlation ≠ Causation in AI Hiring: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Correlation Analysis: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Full feature correlation matrix computed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Identified top features correlated with Attrition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VIF analysis to detect multicollinearity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Causation Analysis: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Simpson's Paradox detection across subgroups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Proxy variable identification (features correlated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 with protected attributes like Gender, Age)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• Confounding variable analysis using partial correlations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Key Finding: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Many features that correlate with attrition also correlate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with protected attributes → potential indirect discrimination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Proxy variables found: Gender, TotalWorkingYears, JobLevel, MonthlyIncome, YearsAtCompany</a:t>
            </a:r>
          </a:p>
        </p:txBody>
      </p:sp>
      <p:pic>
        <p:nvPicPr>
          <p:cNvPr id="4" name="Picture 3" descr="target_correlation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32503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Simpson's Paradox &amp; Proxy Variable Detection</a:t>
            </a:r>
          </a:p>
        </p:txBody>
      </p:sp>
      <p:pic>
        <p:nvPicPr>
          <p:cNvPr id="3" name="Picture 2" descr="proxy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2699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06060"/>
                </a:solidFill>
              </a:defRPr>
            </a:pPr>
            <a:r>
              <a:t>Proxy variables can transmit bias from protected attributes to model predictions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Nudge Theory &amp; Counterfactual Explanations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Nudge Theory (Thaler &amp; Sunstein, 2008):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Nudge Theory (Thaler &amp; Sunstein, 2008):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Small design changes guide better decisions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without restricting freedom of choice.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Applied to AI Hiring: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1. Threshold Nudging: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Default threshold = 0.5 may be unfair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Optimized threshold balances accuracy &amp; fairness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Small shift → significant fairness improvement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2. Counterfactual Explanations: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'What minimal change would flip the decision?'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Provides actionable feedback to candidates</a:t>
            </a:r>
          </a:p>
          <a:p>
            <a:pPr>
              <a:spcAft>
                <a:spcPts val="600"/>
              </a:spcAft>
              <a:defRPr sz="1300">
                <a:solidFill>
                  <a:srgbClr val="202020"/>
                </a:solidFill>
              </a:defRPr>
            </a:pPr>
            <a:r>
              <a:t>   • Ensures transparency &amp; right to explanation</a:t>
            </a:r>
          </a:p>
        </p:txBody>
      </p:sp>
      <p:pic>
        <p:nvPicPr>
          <p:cNvPr id="4" name="Picture 3" descr="threshold_n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4572000" cy="19687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Built a complete Responsible AI pipeline for hiring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Detected measurable bias across Gender and Age groups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Provided model explanations using SHAP &amp; Decision Trees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Generated automated ethics audit with risk assessment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Demonstrated privacy–accuracy–fairness tradeoffs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Analyzed correlation vs causation &amp; proxy variables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Applied nudge theory &amp; counterfactual explanations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✓ Created interactive dashboard for stakeholder review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Key Insight: Responsible AI is not optional –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it is essential for trustworthy AI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